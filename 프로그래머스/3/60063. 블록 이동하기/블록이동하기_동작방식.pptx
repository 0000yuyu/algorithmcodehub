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04d74b443644eb" /><Relationship Type="http://schemas.openxmlformats.org/officeDocument/2006/relationships/extended-properties" Target="/docProps/app.xml" Id="Rce7b41ad6ee74003" /><Relationship Type="http://schemas.openxmlformats.org/officeDocument/2006/relationships/officeDocument" Target="/ppt/presentation.xml" Id="R554b55d28eff48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b26de8b2164405"/>
  </p:sldMasterIdLst>
  <p:notesMasterIdLst>
    <p:notesMasterId xmlns:r="http://schemas.openxmlformats.org/officeDocument/2006/relationships" r:id="R3335e8560ad94109"/>
  </p:notesMasterIdLst>
  <p:sldIdLst>
    <p:sldId xmlns:r="http://schemas.openxmlformats.org/officeDocument/2006/relationships" id="256" r:id="Re0ed8e0084984d50"/>
    <p:sldId xmlns:r="http://schemas.openxmlformats.org/officeDocument/2006/relationships" id="257" r:id="R1f6305a3076340ce"/>
    <p:sldId xmlns:r="http://schemas.openxmlformats.org/officeDocument/2006/relationships" id="258" r:id="R7c8ccfa7dc7f4305"/>
    <p:sldId xmlns:r="http://schemas.openxmlformats.org/officeDocument/2006/relationships" id="259" r:id="Rf597168cee3f431a"/>
    <p:sldId xmlns:r="http://schemas.openxmlformats.org/officeDocument/2006/relationships" id="260" r:id="R56502adb3d564c3c"/>
    <p:sldId xmlns:r="http://schemas.openxmlformats.org/officeDocument/2006/relationships" id="261" r:id="R89e9ebc386b74a5c"/>
    <p:sldId xmlns:r="http://schemas.openxmlformats.org/officeDocument/2006/relationships" id="262" r:id="Re6bbdcc185da47f8"/>
    <p:sldId xmlns:r="http://schemas.openxmlformats.org/officeDocument/2006/relationships" id="263" r:id="R2d58795c2b484882"/>
    <p:sldId xmlns:r="http://schemas.openxmlformats.org/officeDocument/2006/relationships" id="264" r:id="Rcd2146a8076e411d"/>
    <p:sldId xmlns:r="http://schemas.openxmlformats.org/officeDocument/2006/relationships" id="265" r:id="Re13a440c6b644c12"/>
    <p:sldId xmlns:r="http://schemas.openxmlformats.org/officeDocument/2006/relationships" id="266" r:id="R6668421d04d645d1"/>
    <p:sldId xmlns:r="http://schemas.openxmlformats.org/officeDocument/2006/relationships" id="267" r:id="R8b4d97553dd147e1"/>
    <p:sldId xmlns:r="http://schemas.openxmlformats.org/officeDocument/2006/relationships" id="268" r:id="R7ec6d86cb0e04d09"/>
    <p:sldId xmlns:r="http://schemas.openxmlformats.org/officeDocument/2006/relationships" id="269" r:id="Re259e2c9dcdb4f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9d8919eabb472b" /><Relationship Type="http://schemas.openxmlformats.org/officeDocument/2006/relationships/slideMaster" Target="/ppt/slideMasters/slideMaster1.xml" Id="Ra1b26de8b2164405" /><Relationship Type="http://schemas.openxmlformats.org/officeDocument/2006/relationships/notesMaster" Target="/ppt/notesMasters/notesMaster1.xml" Id="R3335e8560ad94109" /><Relationship Type="http://schemas.openxmlformats.org/officeDocument/2006/relationships/presProps" Target="/ppt/presProps.xml" Id="R96436165911c44e4" /><Relationship Type="http://schemas.openxmlformats.org/officeDocument/2006/relationships/tableStyles" Target="/ppt/tableStyles.xml" Id="R7ae5c1ddca02422e" /><Relationship Type="http://schemas.openxmlformats.org/officeDocument/2006/relationships/slide" Target="/ppt/slides/slide1.xml" Id="Re0ed8e0084984d50" /><Relationship Type="http://schemas.openxmlformats.org/officeDocument/2006/relationships/slide" Target="/ppt/slides/slide2.xml" Id="R1f6305a3076340ce" /><Relationship Type="http://schemas.openxmlformats.org/officeDocument/2006/relationships/slide" Target="/ppt/slides/slide3.xml" Id="R7c8ccfa7dc7f4305" /><Relationship Type="http://schemas.openxmlformats.org/officeDocument/2006/relationships/slide" Target="/ppt/slides/slide4.xml" Id="Rf597168cee3f431a" /><Relationship Type="http://schemas.openxmlformats.org/officeDocument/2006/relationships/slide" Target="/ppt/slides/slide5.xml" Id="R56502adb3d564c3c" /><Relationship Type="http://schemas.openxmlformats.org/officeDocument/2006/relationships/slide" Target="/ppt/slides/slide6.xml" Id="R89e9ebc386b74a5c" /><Relationship Type="http://schemas.openxmlformats.org/officeDocument/2006/relationships/slide" Target="/ppt/slides/slide7.xml" Id="Re6bbdcc185da47f8" /><Relationship Type="http://schemas.openxmlformats.org/officeDocument/2006/relationships/slide" Target="/ppt/slides/slide8.xml" Id="R2d58795c2b484882" /><Relationship Type="http://schemas.openxmlformats.org/officeDocument/2006/relationships/slide" Target="/ppt/slides/slide9.xml" Id="Rcd2146a8076e411d" /><Relationship Type="http://schemas.openxmlformats.org/officeDocument/2006/relationships/slide" Target="/ppt/slides/slide10.xml" Id="Re13a440c6b644c12" /><Relationship Type="http://schemas.openxmlformats.org/officeDocument/2006/relationships/slide" Target="/ppt/slides/slide11.xml" Id="R6668421d04d645d1" /><Relationship Type="http://schemas.openxmlformats.org/officeDocument/2006/relationships/slide" Target="/ppt/slides/slide12.xml" Id="R8b4d97553dd147e1" /><Relationship Type="http://schemas.openxmlformats.org/officeDocument/2006/relationships/slide" Target="/ppt/slides/slide13.xml" Id="R7ec6d86cb0e04d09" /><Relationship Type="http://schemas.openxmlformats.org/officeDocument/2006/relationships/slide" Target="/ppt/slides/slide14.xml" Id="Re259e2c9dcdb4f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47dbb291d34c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d64f09ffd44d44" /><Relationship Type="http://schemas.openxmlformats.org/officeDocument/2006/relationships/notesMaster" Target="/ppt/notesMasters/notesMaster1.xml" Id="R195d6e7a5b1741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05a73cda0a41ef" /><Relationship Type="http://schemas.openxmlformats.org/officeDocument/2006/relationships/notesMaster" Target="/ppt/notesMasters/notesMaster1.xml" Id="R9cd570a7528e41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a0c67f7ed0446a" /><Relationship Type="http://schemas.openxmlformats.org/officeDocument/2006/relationships/notesMaster" Target="/ppt/notesMasters/notesMaster1.xml" Id="Re25d241da80745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b090fe24eb4248" /><Relationship Type="http://schemas.openxmlformats.org/officeDocument/2006/relationships/notesMaster" Target="/ppt/notesMasters/notesMaster1.xml" Id="R65ba2cd9f8c84e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03410d511046ee" /><Relationship Type="http://schemas.openxmlformats.org/officeDocument/2006/relationships/notesMaster" Target="/ppt/notesMasters/notesMaster1.xml" Id="R63c7d3e6b6c845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19e27b101d4242" /><Relationship Type="http://schemas.openxmlformats.org/officeDocument/2006/relationships/notesMaster" Target="/ppt/notesMasters/notesMaster1.xml" Id="R3fa24a2f6ad74b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41a21b79d941b9" /><Relationship Type="http://schemas.openxmlformats.org/officeDocument/2006/relationships/notesMaster" Target="/ppt/notesMasters/notesMaster1.xml" Id="Rb55c066771314e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4cccf8eff4463f" /><Relationship Type="http://schemas.openxmlformats.org/officeDocument/2006/relationships/notesMaster" Target="/ppt/notesMasters/notesMaster1.xml" Id="R1b6f59acafb140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ece5068f17446c" /><Relationship Type="http://schemas.openxmlformats.org/officeDocument/2006/relationships/notesMaster" Target="/ppt/notesMasters/notesMaster1.xml" Id="R4c82158908c14f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a1490a46ef4a65" /><Relationship Type="http://schemas.openxmlformats.org/officeDocument/2006/relationships/notesMaster" Target="/ppt/notesMasters/notesMaster1.xml" Id="Rd51a223375fd42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9753762ac04746" /><Relationship Type="http://schemas.openxmlformats.org/officeDocument/2006/relationships/notesMaster" Target="/ppt/notesMasters/notesMaster1.xml" Id="Rdb90e4c7a1f043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aa956272084175" /><Relationship Type="http://schemas.openxmlformats.org/officeDocument/2006/relationships/notesMaster" Target="/ppt/notesMasters/notesMaster1.xml" Id="R6359bfbdeb4741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2d46e1974840e5" /><Relationship Type="http://schemas.openxmlformats.org/officeDocument/2006/relationships/notesMaster" Target="/ppt/notesMasters/notesMaster1.xml" Id="Rd10300aad12443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1bedde7fba43a3" /><Relationship Type="http://schemas.openxmlformats.org/officeDocument/2006/relationships/notesMaster" Target="/ppt/notesMasters/notesMaster1.xml" Id="R00479833e68a42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0bd4ff4894f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5b01db7b144ad5" /><Relationship Type="http://schemas.openxmlformats.org/officeDocument/2006/relationships/slideLayout" Target="/ppt/slideLayouts/slideLayout1.xml" Id="Ref68fe6beb704b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68fe6beb704b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b9aa4781a4f7a" /><Relationship Type="http://schemas.openxmlformats.org/officeDocument/2006/relationships/notesSlide" Target="/ppt/notesSlides/notesSlide1.xml" Id="R3c01388b48e546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166aa057244ea" /><Relationship Type="http://schemas.openxmlformats.org/officeDocument/2006/relationships/notesSlide" Target="/ppt/notesSlides/notesSlide2.xml" Id="Rf74466c2d0ce47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2a3e5c67848c1" /><Relationship Type="http://schemas.openxmlformats.org/officeDocument/2006/relationships/notesSlide" Target="/ppt/notesSlides/notesSlide3.xml" Id="R1400087b4f3642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e8755eda04aa3" /><Relationship Type="http://schemas.openxmlformats.org/officeDocument/2006/relationships/notesSlide" Target="/ppt/notesSlides/notesSlide4.xml" Id="R7faf65adddca43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2159ac55b421c" /><Relationship Type="http://schemas.openxmlformats.org/officeDocument/2006/relationships/notesSlide" Target="/ppt/notesSlides/notesSlide5.xml" Id="Ra826f7400ade4d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d4212aa3041cd" /><Relationship Type="http://schemas.openxmlformats.org/officeDocument/2006/relationships/notesSlide" Target="/ppt/notesSlides/notesSlide6.xml" Id="R4cc216d2eb3a4c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7b230aa00437e" /><Relationship Type="http://schemas.openxmlformats.org/officeDocument/2006/relationships/notesSlide" Target="/ppt/notesSlides/notesSlide7.xml" Id="R80802a8668af46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17fe424e44e58" /><Relationship Type="http://schemas.openxmlformats.org/officeDocument/2006/relationships/notesSlide" Target="/ppt/notesSlides/notesSlide8.xml" Id="Rd3b3bd7a991047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afa2344f84c28" /><Relationship Type="http://schemas.openxmlformats.org/officeDocument/2006/relationships/notesSlide" Target="/ppt/notesSlides/notesSlide9.xml" Id="Ra2dad74325cc49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2245292bf4cec" /><Relationship Type="http://schemas.openxmlformats.org/officeDocument/2006/relationships/notesSlide" Target="/ppt/notesSlides/notesSlide10.xml" Id="R99befec91eb44a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b82578b624fe4" /><Relationship Type="http://schemas.openxmlformats.org/officeDocument/2006/relationships/notesSlide" Target="/ppt/notesSlides/notesSlide11.xml" Id="R9414beb8aadb49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a0f99f91b43db" /><Relationship Type="http://schemas.openxmlformats.org/officeDocument/2006/relationships/notesSlide" Target="/ppt/notesSlides/notesSlide12.xml" Id="R6cd11719cc1648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89eacd0b94841" /><Relationship Type="http://schemas.openxmlformats.org/officeDocument/2006/relationships/notesSlide" Target="/ppt/notesSlides/notesSlide13.xml" Id="R335f0ee31fdc41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5d51c29db4706" /><Relationship Type="http://schemas.openxmlformats.org/officeDocument/2006/relationships/notesSlide" Target="/ppt/notesSlides/notesSlide14.xml" Id="R553056b87d6147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A6CD2-28FC-4680-9F8A-2E88EBE8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47A82-E24E-4619-9ADB-A9DADD7D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8B804-5B85-4E2E-9BBA-BE8C5C8A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43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99999"/>
                </a:solidFill>
              </a:defRPr>
            </a:pPr>
            <a:r>
              <a:rPr sz="750" b="0">
                <a:solidFill>
                  <a:srgbClr val="999999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82975-4ED5-40D5-8975-6D0A6881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3945"/>
                </a:solidFill>
              </a:defRPr>
            </a:pPr>
            <a:r>
              <a:rPr sz="1350" b="1">
                <a:solidFill>
                  <a:srgbClr val="FF3945"/>
                </a:solidFill>
              </a:rPr>
              <a:t>PROGRAMMERS · LEVEL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FFF47-4CBF-47F0-9211-9D54B9EE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71717"/>
                </a:solidFill>
              </a:defRPr>
            </a:pPr>
            <a:r>
              <a:rPr sz="4050" b="1">
                <a:solidFill>
                  <a:srgbClr val="171717"/>
                </a:solidFill>
              </a:rPr>
              <a:t>블록 이동하기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8ED29-0BBF-4AEF-9F20-21D57CCA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66666"/>
                </a:solidFill>
              </a:defRPr>
            </a:pPr>
            <a:r>
              <a:rPr sz="1725" b="0">
                <a:solidFill>
                  <a:srgbClr val="666666"/>
                </a:solidFill>
              </a:rPr>
              <a:t>두 칸짜리 로봇의 상태를 만들고, 가장 짧은 이동 횟수를 찾는 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DCDC8-24F0-414C-B183-332112F0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945"/>
          </a:solidFill>
          <a:ln xmlns:a="http://schemas.openxmlformats.org/drawingml/2006/main" w="9525">
            <a:solidFill>
              <a:srgbClr val="FF39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23F3C-7434-4665-9789-E2634311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6666"/>
                </a:solidFill>
              </a:defRPr>
            </a:pPr>
            <a:r>
              <a:rPr sz="1350" b="1">
                <a:solidFill>
                  <a:srgbClr val="666666"/>
                </a:solidFill>
              </a:rPr>
              <a:t>상태 정의 · 이동 · 회전 · BFS</a:t>
            </a:r>
          </a:p>
        </p:txBody>
      </p:sp>
    </p:spTree>
    <p:extLst>
      <p:ext uri="{BB962C8B-B14F-4D97-AF65-F5344CB8AC3E}">
        <p14:creationId xmlns:p14="http://schemas.microsoft.com/office/powerpoint/2010/main" val="15487121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D767B8-76FA-4255-B6ED-05A71629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A39A7-990D-447B-AC7A-C404B551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E913C-9764-4BFB-AF29-6314A6BC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43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99999"/>
                </a:solidFill>
              </a:defRPr>
            </a:pPr>
            <a:r>
              <a:rPr sz="750" b="0">
                <a:solidFill>
                  <a:srgbClr val="999999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E8B6F-FF5F-4680-91F3-72954C40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문제에서 요구하는 것은 도착점까지의 최소 이동 횟수다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8167D-9813-41CE-82FA-8E8BF1E8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76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978CF-966D-4CBC-8CB9-9F4A23C9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763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01796-BC20-4044-933C-1D0FF90D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76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A6A8F-CD57-4849-BCEF-95CFAF79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763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2564B-E04A-4F56-BF2D-1E1F00E3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CC233-A1C4-4885-8EFC-F040A327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76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5407A-3171-4622-87BD-DA721A33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476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8B720-C67D-4958-AD88-6E3A2523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43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6C6D0-60D2-4C1E-9448-A02850E2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43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2EE67-3191-47CC-AC3A-7BDAE5A9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4909F-63DD-4F82-B0C7-7B5854B1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8DFD9-26D5-4D3C-92FE-C7A50905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43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D1F1F-5CF6-4DA6-BDC2-08B28229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43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1E0AE-A6CA-48DF-A04E-ACF70A00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9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439AB-0433-461F-B201-3A5BBDB3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09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C372E-9B02-4E09-978F-5CF20683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9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F0F75-7E98-4CF4-A179-1406506D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98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715A08-2804-4772-86E1-47D28B1E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09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9B8577-30E4-4DB1-990A-72D41AE3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09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5613D-AE4E-40B7-9CC8-5D9CA235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76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B4BA8C-129C-436C-B9F1-02C3157E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76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EBC3E5-F2F6-431E-830B-332E0ECB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766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337CDD-0DEA-4084-99D2-FE56F36E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76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20AA1-D045-4C15-BC6C-5C434C28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76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9CB028-D81A-47D2-AA01-D48D0393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766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0EF57B-CB6C-47BE-A4BD-42BEC5F1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76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78A890-6FB1-4EC8-9BB7-79D5812F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43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9EE627-D8CF-4430-83E2-8363B7AA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143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0E57CD-D3BA-4AD2-BE43-1E405CE4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43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D2F9F6-7844-46F1-9214-C6A48C89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43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079772-25E5-4356-8C33-00C96636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43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11ED50-08A7-4450-9BEE-E96B32A6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433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E6CA8"/>
                </a:solidFill>
              </a:defRPr>
            </a:pPr>
            <a:r>
              <a:rPr sz="1500" b="1">
                <a:solidFill>
                  <a:srgbClr val="3E6CA8"/>
                </a:solidFill>
              </a:rPr>
              <a:t>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597029-16E0-4CEF-97A5-21663848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3945"/>
                </a:solidFill>
              </a:defRPr>
            </a:pPr>
            <a:r>
              <a:rPr sz="1575" b="1">
                <a:solidFill>
                  <a:srgbClr val="FF3945"/>
                </a:solidFill>
              </a:rPr>
              <a:t>시작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AFFE86-1618-4251-A519-3CD0E253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763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(0,0), (0,1)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D66C4B-B80C-4DB3-9E5F-089EC29E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3945"/>
                </a:solidFill>
              </a:defRPr>
            </a:pPr>
            <a:r>
              <a:rPr sz="1575" b="1">
                <a:solidFill>
                  <a:srgbClr val="FF3945"/>
                </a:solidFill>
              </a:rPr>
              <a:t>이동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E94669-FE8D-4743-BA14-F8322267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145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상·하·좌·우로 한 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1C8CE5-FEE9-4BB6-9361-FFBED621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527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3945"/>
                </a:solidFill>
              </a:defRPr>
            </a:pPr>
            <a:r>
              <a:rPr sz="1575" b="1">
                <a:solidFill>
                  <a:srgbClr val="FF3945"/>
                </a:solidFill>
              </a:rPr>
              <a:t>회전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E78C10-5284-4456-938B-8427F0C0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527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한쪽 칸을 축으로 90도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8AB57F-7679-46F5-AE89-A3B26D99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3945"/>
                </a:solidFill>
              </a:defRPr>
            </a:pPr>
            <a:r>
              <a:rPr sz="1575" b="1">
                <a:solidFill>
                  <a:srgbClr val="FF3945"/>
                </a:solidFill>
              </a:rPr>
              <a:t>종료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8DB2D3-2D21-45CF-BCFF-A49FF19D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909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어느 한 칸이 (N−1,N−1)에 도착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93DAC4-FD5C-4A22-AFFE-3CDF4B38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B2C702-C76F-4D7C-9687-27514877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81575"/>
            <a:ext cx="461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이동과 회전은 모두 1초가 걸린다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CE367C-6625-4E1E-AD0B-3096B40C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6666"/>
                </a:solidFill>
              </a:defRPr>
            </a:pPr>
            <a:r>
              <a:rPr sz="1350" b="1">
                <a:solidFill>
                  <a:srgbClr val="666666"/>
                </a:solidFill>
              </a:rPr>
              <a:t>R: 로봇   ×: 벽   G: 도착점</a:t>
            </a:r>
          </a:p>
        </p:txBody>
      </p:sp>
    </p:spTree>
    <p:extLst>
      <p:ext uri="{BB962C8B-B14F-4D97-AF65-F5344CB8AC3E}">
        <p14:creationId xmlns:p14="http://schemas.microsoft.com/office/powerpoint/2010/main" val="18830187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0CD723-6181-414D-83A8-225D8F66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19B18-3A3C-4426-BCD5-9101E3CA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C4BF3-F784-4F74-A3D3-9387D1AB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43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99999"/>
                </a:solidFill>
              </a:defRPr>
            </a:pPr>
            <a:r>
              <a:rPr sz="750" b="0">
                <a:solidFill>
                  <a:srgbClr val="999999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C19E7-A539-4CE6-8D0A-E972FF56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일반 미로 탐색과 다른 점은 로봇이 두 칸을 차지한다는 것이다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3EF70-423C-42C3-8829-85D87CA4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6666"/>
                </a:solidFill>
              </a:defRPr>
            </a:pPr>
            <a:r>
              <a:rPr sz="1650" b="1">
                <a:solidFill>
                  <a:srgbClr val="666666"/>
                </a:solidFill>
              </a:rPr>
              <a:t>일반 BFS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A59E3-934C-4815-8130-B1654DB1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</a:rPr>
              <a:t>현재 위치 = (r, c)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90C7F-8FC4-4465-909E-88B8B5DB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6666"/>
                </a:solidFill>
              </a:defRPr>
            </a:pPr>
            <a:r>
              <a:rPr sz="1650" b="1">
                <a:solidFill>
                  <a:srgbClr val="666666"/>
                </a:solidFill>
              </a:rPr>
              <a:t>블록 이동하기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EF554-A3D7-404B-8F01-D64F634F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3945"/>
                </a:solidFill>
              </a:defRPr>
            </a:pPr>
            <a:r>
              <a:rPr sz="2325" b="1">
                <a:solidFill>
                  <a:srgbClr val="FF3945"/>
                </a:solidFill>
              </a:rPr>
              <a:t>현재 위치만으로는</a:t>
            </a:r>
          </a:p>
          <a:p xmlns:a="http://schemas.openxmlformats.org/drawingml/2006/main">
            <a:pPr algn="l">
              <a:defRPr sz="2325" b="1">
                <a:solidFill>
                  <a:srgbClr val="FF3945"/>
                </a:solidFill>
              </a:defRPr>
            </a:pPr>
            <a:r>
              <a:rPr sz="2325" b="1">
                <a:solidFill>
                  <a:srgbClr val="FF3945"/>
                </a:solidFill>
              </a:rPr>
              <a:t>방향을 알 수 없다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F4CE1-7DC7-4FB6-A8B9-759D43F9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87EA8-C8AD-455B-A875-3B0FBF41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0069B-42A3-4522-AFC1-9F90DFE1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72D56-8DB4-4330-8196-B60677B2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DA720-6E81-4706-AB41-CC97BA41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24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A94E5-BD7B-4AFD-96EA-147FCB2E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81FCD-2619-448B-92BE-1E7099E8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BAFF4-8EF4-4F95-A57B-6034AA3C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A0CD0-EDC4-4D9B-9E1C-A9C621D2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5CCE0-CFAA-47EB-8634-43317810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AAAC0-ED2A-43AA-840B-26B204EF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1F050-6DE4-4832-B6A7-9EAAD6BC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3CC06-7062-4004-9A1A-C0C82AAB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B86022-5A3D-4039-A21D-8C0DB5BB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DA7BA6-4A6C-4C13-9AAA-8A13F8DD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09E16-772A-4A3A-9833-9C8B0160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82B416-1F13-49A1-85A4-0073EC49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F1145-343B-4342-A6D1-771F54D5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EC1A39-6BB5-400D-B7B2-949E9231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E15959-160B-457E-B129-4C31DEC6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2D9415-13A5-4CBE-862C-30F89312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E79663-946D-4E82-9335-E935821B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BD8D7C-6F57-4F66-A7EC-BB6BEFFE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D0CF66-3F06-4F1A-8C05-4A99F348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40F641-E0DA-4411-BB86-10C355E0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51744E-82E5-416E-ADCA-56331D93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844B26-6E9E-4319-AF41-EDFB3066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43128E-FB8F-4C0D-8FB2-8BF02E73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0DE3DA-3F79-47FB-95ED-868FDF11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91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7B4289-D9E3-43AB-AAB8-D05459EE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91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E6CA8"/>
                </a:solidFill>
              </a:defRPr>
            </a:pPr>
            <a:r>
              <a:rPr sz="1500" b="1">
                <a:solidFill>
                  <a:srgbClr val="3E6CA8"/>
                </a:solidFill>
              </a:rPr>
              <a:t>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ACE182-C7FE-4C25-B048-E9F0868B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91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(2,1)만 저장하면 오른쪽 칸과 가로 방향 정보가 사라진다</a:t>
            </a:r>
          </a:p>
        </p:txBody>
      </p:sp>
    </p:spTree>
    <p:extLst>
      <p:ext uri="{BB962C8B-B14F-4D97-AF65-F5344CB8AC3E}">
        <p14:creationId xmlns:p14="http://schemas.microsoft.com/office/powerpoint/2010/main" val="145733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898721-2D43-4104-9E01-A2D3CC68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2C10D-3877-4B48-AD51-0156C2A3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8CE1E-CF50-4004-A002-3B64AE92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43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99999"/>
                </a:solidFill>
              </a:defRPr>
            </a:pPr>
            <a:r>
              <a:rPr sz="750" b="0">
                <a:solidFill>
                  <a:srgbClr val="999999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7C04E-D797-4624-AE99-E8A56D11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로봇이 차지한 두 좌표를 묶어 하나의 상태로 저장한다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74C2E-36D4-4C13-A7CE-69B46172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28D10-68BA-4FC6-958D-34DC4DD3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76375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F550F-15FA-4592-ABF8-FAE279F9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((r₁, c₁), (r₂, c₂))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90CDC-8514-4D50-A875-722CE6B9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6666"/>
                </a:solidFill>
              </a:defRPr>
            </a:pPr>
            <a:r>
              <a:rPr sz="1575" b="1">
                <a:solidFill>
                  <a:srgbClr val="666666"/>
                </a:solidFill>
              </a:rPr>
              <a:t>두 좌표만 있으면 위치와 방향을 모두 복원할 수 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814AD-93D7-4A26-87E6-8C59BC29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57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FA59E-EBA1-4843-8C83-357B4320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14825"/>
            <a:ext cx="42291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r₁ == r₂  →  가로</a:t>
            </a:r>
          </a:p>
          <a:p xmlns:a="http://schemas.openxmlformats.org/drawingml/2006/main"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c₁ == c₂  →  세로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41FD4-BCA9-4B2A-9E99-C93FCE1C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F2C51-154E-4956-8498-3211BF73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192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7657D-2A28-499D-9D82-338FD97D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6192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D0EA4-9FC9-4A52-90D2-F6384EC0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6192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58403-6640-45F2-A972-F894F765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003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AF736-74E5-45F1-9A2C-9EE33FAE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003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15723-872E-4688-A9A0-DDF00D72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0030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0D85F9-4858-476A-A4FD-CD1D47A6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003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E5DF0-DB63-471F-8399-293D7D86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0030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936FA-A60F-4E57-897F-BCABF92C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4003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5D7D29-95E1-4B6D-B84B-12F95CA1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81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F4BF8-9A7A-486E-B8F1-D2287FBB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181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68D04-3B0E-4019-A52B-DBAB3C40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81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7A7271-6FD0-4BE5-9D8A-F4AF3EC3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81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668C34-F030-4D35-B25D-093BDB9D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624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28D2FB-B4CB-4CCD-B04D-33C9BA19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9624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33BC42-A1D1-4CCF-A670-4C0D4E65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9624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598F88-88E3-4CCA-A759-4F2619EA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9624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E3FD0D-F429-44EA-BE0B-C24E6FAC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958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3945"/>
                </a:solidFill>
              </a:defRPr>
            </a:pPr>
            <a:r>
              <a:rPr sz="1500" b="1">
                <a:solidFill>
                  <a:srgbClr val="FF3945"/>
                </a:solidFill>
              </a:rPr>
              <a:t>예: ((1,1), (1,2))는 가로 상태</a:t>
            </a:r>
          </a:p>
        </p:txBody>
      </p:sp>
    </p:spTree>
    <p:extLst>
      <p:ext uri="{BB962C8B-B14F-4D97-AF65-F5344CB8AC3E}">
        <p14:creationId xmlns:p14="http://schemas.microsoft.com/office/powerpoint/2010/main" val="19502720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397D37-F604-47EA-BF29-6488EB8C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5BE3E-A07D-4B38-ADFA-9BBAC5C5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63139-767D-4189-8A38-639B0807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43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99999"/>
                </a:solidFill>
              </a:defRPr>
            </a:pPr>
            <a:r>
              <a:rPr sz="750" b="0">
                <a:solidFill>
                  <a:srgbClr val="999999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B9E8D-F941-4413-BD07-7B0B1CB3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두 끝점의 순서를 고정해야 같은 위치를 중복 방문하지 않는다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294EE-A844-488A-A598-B6B5AC3A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((0,0), (0,1))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F6DDF-2464-4DD7-A855-6DD1DA42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3945"/>
                </a:solidFill>
              </a:defRPr>
            </a:pPr>
            <a:r>
              <a:rPr sz="1575" b="1">
                <a:solidFill>
                  <a:srgbClr val="FF3945"/>
                </a:solidFill>
              </a:rPr>
              <a:t>같은 로봇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F948E-2E60-4298-81BA-CBB090B8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((0,1), (0,0))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2DA9D-4C2A-43EB-9A5D-00B53CD3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57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7454B-568F-4136-ACF4-91E6E0C5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4229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행이 작거나, 행이 같다면 열이 작은 좌표를 앞에 둔다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F8C20-C493-4FE6-AB65-313D0B64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21BD8-9275-4192-BBAD-5F709EB4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192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EE44D-3C6B-4E2F-86AB-13EC2635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6192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83343-EB70-4D35-A4B9-2B7453B4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6192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A5785-5864-4ECB-82DC-996EB10A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003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F81E6-38FC-4197-9E55-905D1688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003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B951C-FA3C-42BD-A245-66F9931C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0030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1B863-955A-48FB-839D-69916534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003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E672B-A2D2-4C78-ABA0-92E4DC1A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0030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25CDF-25B5-4440-8756-56A4F4ED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4003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EAB54-3BB8-455C-8832-2E3EE922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81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74817-A34D-4CB2-8164-D011594A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181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91E595-043A-41F7-AE05-22F16B35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81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37BF12-2A38-4E3B-A60B-FBB0D3E6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81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5F93F3-C168-4A6C-942B-65C4B3E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624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0A81F6-9B22-42F6-84A5-73405A8A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9624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BBC61F-84BD-43DD-BA75-83F5FFBE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9624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CF32F6-3488-47C2-A8DE-EA1E351A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9624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0B14B0-49F5-4833-B548-EB1BA692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3945"/>
                </a:solidFill>
              </a:defRPr>
            </a:pPr>
            <a:r>
              <a:rPr sz="1425" b="1">
                <a:solidFill>
                  <a:srgbClr val="FF3945"/>
                </a:solidFill>
              </a:rPr>
              <a:t>State.of(두 좌표)에서 순서를 정리한 뒤 visited에 넣는다</a:t>
            </a:r>
          </a:p>
        </p:txBody>
      </p:sp>
    </p:spTree>
    <p:extLst>
      <p:ext uri="{BB962C8B-B14F-4D97-AF65-F5344CB8AC3E}">
        <p14:creationId xmlns:p14="http://schemas.microsoft.com/office/powerpoint/2010/main" val="272526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D86ADC-66B1-4DDD-B536-E0066757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7AD4C-B191-49D8-8285-604FD50A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44253-B749-4032-A813-C386F40C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43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99999"/>
                </a:solidFill>
              </a:defRPr>
            </a:pPr>
            <a:r>
              <a:rPr sz="750" b="0">
                <a:solidFill>
                  <a:srgbClr val="999999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4C25A-865D-44F9-8332-610C0BB1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평행 이동은 두 칸이 함께 움직일 수 있을 때만 만든다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C80B0-1E4A-4BF1-8F04-8E859BE3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62710-6DD6-4A64-8E08-A12D9755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76375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상·하·좌·우 이동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87C0F-54EC-43B2-9947-DE3AB56E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810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nr₁ = r₁ + dr</a:t>
            </a:r>
          </a:p>
          <a:p xmlns:a="http://schemas.openxmlformats.org/drawingml/2006/main">
            <a:pPr algn="ctr"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nc₁ = c₁ + dc</a:t>
            </a:r>
          </a:p>
          <a:p xmlns:a="http://schemas.openxmlformats.org/drawingml/2006/main">
            <a:pPr algn="ctr"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nr₂ = r₂ + dr</a:t>
            </a:r>
          </a:p>
          <a:p xmlns:a="http://schemas.openxmlformats.org/drawingml/2006/main">
            <a:pPr algn="ctr"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nc₂ = c₂ + dc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032E7-3318-44AD-BFC1-B4324EDF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0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06427-0D15-45A1-A6AD-29285C62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4419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두 목적지가 모두 보드 안이고 빈칸이면 다음 상태에 추가한다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B83D5-4634-4D54-8103-F6EAD3C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76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86C06-973C-48E0-9F73-0C68B93A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76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AF68F-90D8-4649-B71D-15634D70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214F2-04C2-4E4B-B938-48E37EF8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76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E5B20-F272-429A-A979-8E76731E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476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0A664-86CE-43D2-99B2-03228DC1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43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358EB-60AA-4C6F-B52A-F265F4ED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43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B6B05-3790-4339-8078-9005D1B1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D8068-7B79-48C7-B78A-0E5C033C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43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9B7208-C99C-4CD3-B9CB-B2476B4C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43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9ED29-0C25-4E20-B862-C5B4F8AC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43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3666A-D847-4431-B24B-247642AC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9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B74FE-3FA2-4908-AA3D-145B1A7B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09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E3B86-C0F5-4C33-8D90-60A94581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098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A2E36-DB64-4649-A850-592CDDF5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9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931A3-682D-4949-94CE-EE5C1E6E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98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E66B5C-430C-4F32-B98B-1911C663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09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F513C8-CA17-4956-B6B2-AFB5C720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098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36D9DB-43E0-4C27-8DF2-CFE08458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09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71663E-1334-4B94-B32B-2BEB825C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76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061283-BF8F-4D7E-81DA-5AB56813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76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43520D-95D6-4922-9C0C-1E6FBE2E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766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D771E2-9A4A-46F7-9AAA-0A516FC3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76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CA6873-50D6-4E14-B29B-52F20D73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76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6A16F4-1181-4EF0-ABE6-13D8E323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76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ADD9E2-684E-499E-8FBA-DD6FD520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43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C131BD-2E1F-4EED-A1F8-1FE16776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143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4B92E3-F587-4962-93DD-3EF60D3F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43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E092AD-DAF4-4CEB-98D9-1D51CB51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43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2450A4-E02F-498F-B69A-DC9C9A5A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43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B390B9-15D9-40A6-968E-5746E216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433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E6CA8"/>
                </a:solidFill>
              </a:defRPr>
            </a:pPr>
            <a:r>
              <a:rPr sz="1500" b="1">
                <a:solidFill>
                  <a:srgbClr val="3E6CA8"/>
                </a:solidFill>
              </a:rPr>
              <a:t>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F0A306-CCD3-41E2-90FF-09EB5459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958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3945"/>
                </a:solidFill>
              </a:defRPr>
            </a:pPr>
            <a:r>
              <a:rPr sz="1425" b="1">
                <a:solidFill>
                  <a:srgbClr val="FF3945"/>
                </a:solidFill>
              </a:rPr>
              <a:t>오른쪽 칸이 벽과 부딪히므로 오른쪽 이동은 만들지 않는다</a:t>
            </a:r>
          </a:p>
        </p:txBody>
      </p:sp>
    </p:spTree>
    <p:extLst>
      <p:ext uri="{BB962C8B-B14F-4D97-AF65-F5344CB8AC3E}">
        <p14:creationId xmlns:p14="http://schemas.microsoft.com/office/powerpoint/2010/main" val="11880333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CED4D12-828F-47A9-8E6E-E949D184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908FE-7E80-4DD5-B242-231A779B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866D7-0893-4B24-B356-7F123B44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43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99999"/>
                </a:solidFill>
              </a:defRPr>
            </a:pPr>
            <a:r>
              <a:rPr sz="750" b="0">
                <a:solidFill>
                  <a:srgbClr val="999999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42FA6-3A98-489B-BFF7-2C887F78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가로 상태에서는 위쪽과 아래쪽 공간을 확인한다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2D4D1-903C-4DF6-97D3-9DFDB385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50FF1-FC33-4D58-B058-AA892CBE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1BE03-5D50-4FBB-95B2-474B2FE3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0D4BC-7E69-4280-A75C-6DB71237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81098-FAAA-4DA7-BC45-0FDDDD5E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29101-7A5A-4EE1-9557-663F6910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48A44-0CBA-4ABA-9327-5FC7F5F3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142C0-0CCE-4320-8AD5-1F3B4A46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4D72B-6EF4-4F17-89E0-E633B115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C2500-322E-46E4-B369-9045DCCB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3459A-147D-4716-AF53-51B89720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FC48D-E9FC-46A8-8270-12859ED5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481B8-9A81-4CB3-85A2-15D3DC23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0099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F25D4-0560-45FF-8047-347E6958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B108D-1B2B-44BF-8940-07B6F591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0099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12996-AC2E-4D26-8E93-A7300E5D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B666B-3DD1-4D40-844A-77F22B31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257F2-41FB-4012-B2D4-B5C0A629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4E5A2D-3687-4FD7-9BC8-B0C3A7F1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89BA97-5F3C-4059-8CE3-4557694A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EEF4B4-571A-4AF4-9954-84CD4892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9CFFE6-2B16-4152-A1E5-51BDA1EF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EAA872-395E-476E-B86C-CBD33FC5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1F5063-9BE4-4799-8000-83694721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7BFB9C-5EE9-45C5-9842-53147556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6D9CC2-998B-4683-B0FC-738EBE63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77F5EC-59E8-4BC1-BF1D-4A35A040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853C4E-39F0-4173-93BA-A3AA80E6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6666"/>
                </a:solidFill>
              </a:defRPr>
            </a:pPr>
            <a:r>
              <a:rPr sz="1425" b="1">
                <a:solidFill>
                  <a:srgbClr val="666666"/>
                </a:solidFill>
              </a:rPr>
              <a:t>현재 상태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ED2370-805B-4BC1-A586-F1D8C8B3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575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3945"/>
                </a:solidFill>
              </a:defRPr>
            </a:pPr>
            <a:r>
              <a:rPr sz="3150" b="1">
                <a:solidFill>
                  <a:srgbClr val="FF3945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7C79FD-DF97-4576-9198-025BC779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1727BB-B66E-4333-BC8A-EC650AA2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CDE7D0-0526-431C-9956-EDBA6318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F588AE-AEB6-4930-8964-EA603B2F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0B545A-05E3-4141-B74F-FF8574AC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10A87F-360A-4435-8133-82FB499B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353BBA-70B7-4D91-B9EC-FE2B2097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ED38EA-2380-4084-B443-F1578BD4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622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B4EABD-BC27-46B6-AAF2-05F1B552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D89AC9-19FD-4743-856C-E048588E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84AFAA-CC8C-406A-A1CA-13A332CA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77D028-55D6-43C8-BC75-E311AF39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437FDC-4000-43C9-BD49-30DF26CC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E1C305-A939-4BE0-9AF1-90E2FCA7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63AA69-04F9-4596-B9DA-48F26BE4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314AC0-2A14-44A5-B106-3355D934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3B2E8A-5A8D-4230-B2CF-79F5F09F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AF0871-FEF0-4EF5-922D-997DF64B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AE6890-4B3F-429F-A449-83210A83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ACF3B0-8615-4334-A107-59BD5DF0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3CC745-9618-4947-9F9C-03E82056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727A19-4130-4D34-A08F-5898637A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757845-9A37-4259-B815-BB456928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7DC380-FE57-472B-9CDB-559667DB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80D44E-CF9D-4200-9A9A-0192820E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0ECA71-A45F-4818-B152-FBF0D47B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359558-41D8-4C5F-B656-5C1744B6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755DCE-B24C-4FAD-B6BA-26F056DE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958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왼쪽 칸을 축으로 위쪽 회전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16B9A1-91ED-4A16-B013-11732378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090FB97-A88C-4CF3-B018-4D809704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478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6D5D5E8-DB65-4E1C-AB8D-7D80A04F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47875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2D9BC6-8B32-4E3E-BD74-610C83CF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0478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5191C3-35C9-4A37-8BE5-C3193D7B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955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3AD0B0-FCA0-4940-B54E-C36A440D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955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D606957-73CC-483E-8C48-47B336AA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95575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8E1654C-ECBC-4D08-AB0B-1DB1CD83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955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1571BA3-B40E-4552-91D0-43541423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432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5C5F3DB-F02A-4A8D-8C6D-6BDAD6AE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432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98D524-6F62-46E6-9964-09280FD7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3432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A3C967E-321C-4B54-88A2-197DE3D6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86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오른쪽 축도 가능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F9F89FB-0247-4924-9CBD-D9995DBC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71500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3945"/>
                </a:solidFill>
              </a:defRPr>
            </a:pPr>
            <a:r>
              <a:rPr sz="1575" b="1">
                <a:solidFill>
                  <a:srgbClr val="FF3945"/>
                </a:solidFill>
              </a:rPr>
              <a:t>위의 두 칸이 모두 비어 있어야 두 회전 후보를 만들 수 있다</a:t>
            </a:r>
          </a:p>
        </p:txBody>
      </p:sp>
    </p:spTree>
    <p:extLst>
      <p:ext uri="{BB962C8B-B14F-4D97-AF65-F5344CB8AC3E}">
        <p14:creationId xmlns:p14="http://schemas.microsoft.com/office/powerpoint/2010/main" val="61395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AC6236-26A1-4729-875B-2FAC2B26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0542A-7D6B-466B-9F55-761464B4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7C6AA-A6CD-4492-87A8-710913F5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43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99999"/>
                </a:solidFill>
              </a:defRPr>
            </a:pPr>
            <a:r>
              <a:rPr sz="750" b="0">
                <a:solidFill>
                  <a:srgbClr val="999999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911A0-D72F-419C-B166-DFE6AA8A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회전축 옆 한 칸만 확인하면 벽을 통과하는 상태가 생긴다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D3842-356B-4A95-A2C6-00BB1624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11FD8-7179-4653-8EDF-5DD84ACB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66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F406D-849E-4104-8B78-A9B5829B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66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1C93D-132D-4CD5-B8DE-25F62333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66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7F5A4-E79F-4E0F-82AA-E1D62380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D6CC7-DC19-475C-B636-4B9E46A8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33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1DA29-0BD7-4437-B49B-64ADA20A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33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089F7-8DC1-4DA3-AB73-343ABC93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51E8B-B500-4B0B-AF47-A2A01B21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3F1F0-B466-4056-A4E3-85E06BAB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16A63-6BFE-4BC1-9307-1FEC4125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3A40D-CBEB-43CD-98C4-8662A2DF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0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82505-5BF1-4DBB-8301-83CC624B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0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9B1AC-3435-4049-B283-7C598B84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03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30DB3-F004-412A-A5CB-C104A3CC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0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3231C-E9DE-44CF-9CC5-8CC76477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03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3E4CB-8B25-40E1-AE87-9DDCC563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402AB-4D67-4C98-BEB8-6D627176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0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044D9F-A814-42E2-AA69-19488FA8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6FC9DB-2E31-41B6-9E5B-F61C9F84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67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B919F3-D953-4D86-B48E-F83DC490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30BCA4-B202-4A4B-9EDB-2D6C3DD3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67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71BDBD-8AB5-45D6-920D-ACA07D7A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67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919FE3-D632-4E31-ADED-9A4180AB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35F5F0-3861-4206-8D6E-C8D4C060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12E875-1F49-4A37-B6C3-E49EEF68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33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146EE3-16DC-45F2-8043-5009E635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406228-C600-4F22-B6C3-258F7DEF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33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AF1D79-292C-4EAB-8266-6B555ABB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왼쪽 축 주변은 비어 있지만</a:t>
            </a:r>
          </a:p>
          <a:p xmlns:a="http://schemas.openxmlformats.org/drawingml/2006/main"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오른쪽 위 칸에 벽이 있다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6267F5-0CC3-465A-81C6-FCAE6B45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1462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3945"/>
                </a:solidFill>
              </a:defRPr>
            </a:pPr>
            <a:r>
              <a:rPr sz="4050" b="1">
                <a:solidFill>
                  <a:srgbClr val="FF3945"/>
                </a:solidFill>
              </a:rPr>
              <a:t>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6FF176-C767-45C3-B3DC-7D61E35A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573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3945"/>
                </a:solidFill>
              </a:defRPr>
            </a:pPr>
            <a:r>
              <a:rPr sz="2250" b="1">
                <a:solidFill>
                  <a:srgbClr val="FF3945"/>
                </a:solidFill>
              </a:rPr>
              <a:t>회전 불가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218551-5E56-4FC6-8561-1CDF0068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1462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회전 중에는 2×2 영역을 지나므로</a:t>
            </a:r>
          </a:p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축 반대편 공간까지 함께 비어 있어야 한다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5C4C82-7F84-4501-8C29-ECAC96D2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8933CC-D6F4-4D68-8878-7776A191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0075"/>
            <a:ext cx="422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가로: board[r+d][c₁], board[r+d][c₂] 검사</a:t>
            </a:r>
          </a:p>
        </p:txBody>
      </p:sp>
    </p:spTree>
    <p:extLst>
      <p:ext uri="{BB962C8B-B14F-4D97-AF65-F5344CB8AC3E}">
        <p14:creationId xmlns:p14="http://schemas.microsoft.com/office/powerpoint/2010/main" val="1068440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9E5D48-2F73-48A2-822E-C3786560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6371F-6F44-4F12-8550-F13DCA9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235BB-9092-450A-BDFD-9E7EC05D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43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99999"/>
                </a:solidFill>
              </a:defRPr>
            </a:pPr>
            <a:r>
              <a:rPr sz="750" b="0">
                <a:solidFill>
                  <a:srgbClr val="999999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E6355-A5DE-4671-836D-E1B19CE8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세로 상태도 같은 원리로 왼쪽과 오른쪽 공간을 확인한다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8FC44-E7BC-4BC0-A132-E43CEB01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AAA2B-4B7C-48D6-AEAE-E9DA25F8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6B650-4EE4-4AC2-898E-4677B6E6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4731F-B5AC-4FE1-B110-A1358633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437BA-37AF-44DC-99A4-97D64D2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C151E-9C28-487D-AE73-85276560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F2DA8-75D0-46AC-B25C-B311DC42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EC705-545B-4E8A-8F9E-A865E89C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F5E7A-A2BC-478E-B317-49055A9E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3622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BC9D6-A873-4907-AA9C-DF937A29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58335-3A8D-4C40-B054-153C0450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5EA7A-88AF-47D1-80DF-8366769A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4C14B-B0E4-473F-8E44-360D10BE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2E12F-531D-445E-88D2-2FF685F2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81108-CD1E-490A-98BF-C981D4D4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0099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BD5D8-2911-4833-AF2C-A2688589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41652-6FF6-49C2-9234-820EBACA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A0595E-41D4-4A72-A865-6447C1D8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D0014-15E2-45A0-9765-22B9A8A4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0DBCE2-DE47-4207-A164-B8CEE988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10C8B-E5BF-46E6-A7BF-F30A7E4E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4753DB-FA6C-4CA1-8CF2-7E433C09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ED8AC7-8968-42D3-9C92-532DE461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DCEE69-98E0-4EDE-9615-12E52694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6FF05F-4ED5-430A-912C-CC5461AB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CF5E2D-8E7B-462D-B97E-10A4132C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0A42CA-05EE-4B96-B637-9C06207B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F58790-4C55-48A1-911C-42C28528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6666"/>
                </a:solidFill>
              </a:defRPr>
            </a:pPr>
            <a:r>
              <a:rPr sz="1425" b="1">
                <a:solidFill>
                  <a:srgbClr val="666666"/>
                </a:solidFill>
              </a:rPr>
              <a:t>현재 상태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E059F1-2801-4578-9DD6-2EAAB155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575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3945"/>
                </a:solidFill>
              </a:defRPr>
            </a:pPr>
            <a:r>
              <a:rPr sz="3150" b="1">
                <a:solidFill>
                  <a:srgbClr val="FF3945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450ABD-8482-4D4D-B154-BDC4786B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371597-A59E-43C9-AFD0-09F0BA5C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5DEAF1-846D-4B38-9212-2887705A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9604E9-5686-488D-8F77-2DFF714B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07EFF1-E631-4EB8-974C-0065EEE2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14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2CD3A8-E769-410C-B1C1-CB3A9654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D70AFD-0280-4D4D-B56C-581FDA6A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8BE36A-A38B-43BA-9956-55D2B619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622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2642F9-D048-4ED8-9233-8B14B7C3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8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2EA10E-8ACA-4DE5-ADCA-039E111B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622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228D97-5244-45A0-88E1-0CAA1B0C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DAF733-4516-4BF6-9819-D31BFCB1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42DA81-D784-4812-BBE0-F16E2F02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2C6ABB-52A7-45AD-95CA-38464952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B199BC-9CA1-4DD2-8002-09D80A7D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C9DE1E-0FB8-4C7E-9255-BE2E403E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BBFD33-C8B9-4E83-B1F0-8222699D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407BE0-A027-4116-B80F-1649C0D4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D99B3B-9644-4204-92F6-8FEE655B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BBE3A2-B8E3-44E0-A516-7361EBF3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BD972B-73EA-42F0-A5EB-287E5DEE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400FC4-E501-4640-9988-5A9D5F70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57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D5A53F-8A97-4771-BA71-331E6044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357AE6-ECDF-4C4F-8953-B94475F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0E5CE6-EC9E-41D0-B70E-A20CCEF2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CA9D3BE-BB3C-4FF6-AB11-FDDDDAAC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4A71A24-1A88-46F9-9244-37EFFF5F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05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A7ADAE3-051A-4E7A-AE6C-9340DAD6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958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위쪽 칸을 축으로 왼쪽 회전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1CA2BCA-854C-477C-B0C6-50FA22DE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6666"/>
                </a:solidFill>
              </a:defRPr>
            </a:pPr>
            <a:r>
              <a:rPr sz="1350" b="1">
                <a:solidFill>
                  <a:srgbClr val="666666"/>
                </a:solidFill>
              </a:rPr>
              <a:t>검사할 칸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B230A8-DDA4-424A-B24B-D5D9C0D9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board[r₁][c+d]</a:t>
            </a:r>
          </a:p>
          <a:p xmlns:a="http://schemas.openxmlformats.org/drawingml/2006/main"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board[r₂][c+d]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B31DAE3-22BE-406D-BAD6-F0A2CC43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150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3945"/>
                </a:solidFill>
              </a:defRPr>
            </a:pPr>
            <a:r>
              <a:rPr sz="1500" b="1">
                <a:solidFill>
                  <a:srgbClr val="FF3945"/>
                </a:solidFill>
              </a:rPr>
              <a:t>두 칸이 비어 있으면 위쪽 축과 아래쪽 축 상태를 각각 만든다</a:t>
            </a:r>
          </a:p>
        </p:txBody>
      </p:sp>
    </p:spTree>
    <p:extLst>
      <p:ext uri="{BB962C8B-B14F-4D97-AF65-F5344CB8AC3E}">
        <p14:creationId xmlns:p14="http://schemas.microsoft.com/office/powerpoint/2010/main" val="3889833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0BEB25-B8F2-4808-A72F-11AB505E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CC3CA-9A7C-40EC-A0FE-D6255987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E095F-E943-45D2-A76D-58AA262F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43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99999"/>
                </a:solidFill>
              </a:defRPr>
            </a:pPr>
            <a:r>
              <a:rPr sz="750" b="0">
                <a:solidFill>
                  <a:srgbClr val="999999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8D50A-D1B2-41A8-B5F5-62D7D622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보드가 아니라 로봇 상태 사이의 그래프를 탐색한다고 보면 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743D7-6910-4EBA-996E-39B639A9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7622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9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ED409-A381-4E21-B1B0-670C13FA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945"/>
          </a:solidFill>
          <a:ln xmlns:a="http://schemas.openxmlformats.org/drawingml/2006/main" w="9525">
            <a:solidFill>
              <a:srgbClr val="FF39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E3F73-C6EE-4D04-BD8A-02575CD9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73DA6-499E-4E76-9825-7A72147E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시작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395AA-5438-4319-88AB-7F79424C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622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9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0CC24-E630-4A5B-AF51-C1F140B1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33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1D1CB-9879-4DEC-AC0F-DAA31099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33625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73B83-0D5C-41EF-9B8E-665CC19B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오른쪽 이동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8DF5A-1A19-4FCB-9575-66B968B6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622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3D677-3D2B-4ADF-A8C9-AB603539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7BEFF-8160-40D5-AD9A-A7AD24F1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C6C04-4C37-4F06-8FFF-65BF0231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766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아래쪽 이동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17477-BAE4-480A-98E5-03A08402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34A208-012C-42A4-AD96-7172561B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1C35BE-8D0E-4CF8-B0EE-3F431712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회전 상태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373AEE-5334-4344-8E07-A996F5E2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3945"/>
                </a:solidFill>
              </a:defRPr>
            </a:pPr>
            <a:r>
              <a:rPr sz="1500" b="1">
                <a:solidFill>
                  <a:srgbClr val="FF3945"/>
                </a:solidFill>
              </a:rPr>
              <a:t>정점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8BEC9-2A03-4EA8-B0D9-0A0F6698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2912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정규화한 두 좌표 상태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496B7-1082-4F6B-88E6-8365A573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3945"/>
                </a:solidFill>
              </a:defRPr>
            </a:pPr>
            <a:r>
              <a:rPr sz="1500" b="1">
                <a:solidFill>
                  <a:srgbClr val="FF3945"/>
                </a:solidFill>
              </a:rPr>
              <a:t>간선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7E820-202C-48DC-9ED0-1AB491F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0062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한 번의 이동 또는 회전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63315-5C5F-46E6-B854-632C43F3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3945"/>
                </a:solidFill>
              </a:defRPr>
            </a:pPr>
            <a:r>
              <a:rPr sz="1500" b="1">
                <a:solidFill>
                  <a:srgbClr val="FF3945"/>
                </a:solidFill>
              </a:rPr>
              <a:t>가중치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239ADA-35C9-4592-9451-54209B98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모든 간선의 비용은 1</a:t>
            </a:r>
          </a:p>
        </p:txBody>
      </p:sp>
    </p:spTree>
    <p:extLst>
      <p:ext uri="{BB962C8B-B14F-4D97-AF65-F5344CB8AC3E}">
        <p14:creationId xmlns:p14="http://schemas.microsoft.com/office/powerpoint/2010/main" val="20667184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979839-05AD-4C2D-B183-1B1C44C1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3719F-961D-4872-964B-EADE237C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D9EBF-2E9A-4F69-A9A8-7580FD38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43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99999"/>
                </a:solidFill>
              </a:defRPr>
            </a:pPr>
            <a:r>
              <a:rPr sz="750" b="0">
                <a:solidFill>
                  <a:srgbClr val="999999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78439-24D2-4E34-92CF-1EC43AE0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BFS는 이동 횟수가 같은 상태를 한 층씩 처리한다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20561-590C-4963-B883-9F63C881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1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9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DFB4F-D4EF-4C63-94F2-1422E94D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B261C-34C9-4ABC-9E8D-782E3894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B2AEB-23EB-4E44-8D45-A9530287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29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3945"/>
                </a:solidFill>
              </a:defRPr>
            </a:pPr>
            <a:r>
              <a:rPr sz="1500" b="1">
                <a:solidFill>
                  <a:srgbClr val="FF3945"/>
                </a:solidFill>
              </a:rPr>
              <a:t>0초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6C77B-BE15-4A64-B196-D3DE8AD5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8576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C88A9-EE67-4BBE-9621-385C1C5B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9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616A5-D938-42E0-8FCC-1BCD8C66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B98D2-4FCB-467C-80F3-29202505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7AA91-CBF5-4F0C-B08E-108E64C2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29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3945"/>
                </a:solidFill>
              </a:defRPr>
            </a:pPr>
            <a:r>
              <a:rPr sz="1500" b="1">
                <a:solidFill>
                  <a:srgbClr val="FF3945"/>
                </a:solidFill>
              </a:rPr>
              <a:t>1초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25051-E41C-4249-A015-CCF09C12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576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한 번 움직인 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8CE4C-E1CE-499D-AB07-3E55B135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9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786D9-3F78-40F5-8ADB-C9A23972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27D3C-2FB4-4AF1-9B11-6FB7C808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C4CC3-24FC-46FA-AEC9-846D1B1B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3945"/>
                </a:solidFill>
              </a:defRPr>
            </a:pPr>
            <a:r>
              <a:rPr sz="1500" b="1">
                <a:solidFill>
                  <a:srgbClr val="FF3945"/>
                </a:solidFill>
              </a:rPr>
              <a:t>2초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3B287-DADC-4349-96D6-EEBD11ED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8576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두 번 움직인 상태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DA25C-14B8-464F-BDA6-A5B4064B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945"/>
          </a:solidFill>
          <a:ln xmlns:a="http://schemas.openxmlformats.org/drawingml/2006/main" w="9525">
            <a:solidFill>
              <a:srgbClr val="FF39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194C9A-FFF9-41B0-BF38-8F46BAEE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ED408-18AC-4291-80FF-BD1F16DE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3945"/>
                </a:solidFill>
              </a:defRPr>
            </a:pPr>
            <a:r>
              <a:rPr sz="1500" b="1">
                <a:solidFill>
                  <a:srgbClr val="FF3945"/>
                </a:solidFill>
              </a:rPr>
              <a:t>3초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02C10F-F79E-4480-90DB-4ACD89B5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목표 도착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CFBE52-6833-40C1-9FAE-4E4F8580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53000"/>
            <a:ext cx="676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AFCA09-FFB7-4927-8446-16E0D6F5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029200"/>
            <a:ext cx="641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목표 상태를 처음 꺼낸 순간의 거리가 최소 이동 횟수다</a:t>
            </a:r>
          </a:p>
        </p:txBody>
      </p:sp>
    </p:spTree>
    <p:extLst>
      <p:ext uri="{BB962C8B-B14F-4D97-AF65-F5344CB8AC3E}">
        <p14:creationId xmlns:p14="http://schemas.microsoft.com/office/powerpoint/2010/main" val="5179839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9E7C3-4827-4D2A-B228-3410B16E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E08A1-8CC4-4879-B869-FBBF4A9E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A3CA9-7F9F-4A62-A2BD-A88D6D7C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43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99999"/>
                </a:solidFill>
              </a:defRPr>
            </a:pPr>
            <a:r>
              <a:rPr sz="750" b="0">
                <a:solidFill>
                  <a:srgbClr val="999999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BF477-760E-487D-8129-E633AF8D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다음 상태는 방문 여부를 확인한 뒤 큐에 한 번만 넣는다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39FC3-DB4A-4D16-BB4E-CC9950EF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47060-5F20-4E5A-A2F8-4C03DDC4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76375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BFS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57341-F7F9-4841-9793-8EB572C4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1. 큐에서 State와 distance를 꺼낸다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10217-B7A3-404B-852D-C134630A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2. 두 칸 중 하나가 도착점인지 확인한다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F8DB2-6F0B-475E-B56B-B7A03B15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623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3. 이동·회전으로 다음 상태를 만든다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E4E12-9971-44E0-A644-28AF326A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481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3945"/>
                </a:solidFill>
              </a:defRPr>
            </a:pPr>
            <a:r>
              <a:rPr sz="1575" b="1">
                <a:solidFill>
                  <a:srgbClr val="FF3945"/>
                </a:solidFill>
              </a:rPr>
              <a:t>4. 처음 본 상태만 distance + 1로 넣는다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8425C-DE2F-4525-BA35-66883212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A1814-1553-4096-90B3-E8ED48AB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76375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visited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D10CA-CD71-473C-9C59-F0D1E6BE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3837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좌표 순서를 정리한 State를 키로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126A9-2B8D-45B2-9F75-9862ADAB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43250"/>
            <a:ext cx="381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6666"/>
                </a:solidFill>
              </a:defRPr>
            </a:pPr>
            <a:r>
              <a:rPr sz="1650" b="1">
                <a:solidFill>
                  <a:srgbClr val="666666"/>
                </a:solidFill>
              </a:rPr>
              <a:t>같은 위치로 돌아오는 경로와</a:t>
            </a:r>
          </a:p>
          <a:p xmlns:a="http://schemas.openxmlformats.org/drawingml/2006/main">
            <a:pPr algn="ctr">
              <a:defRPr sz="1650" b="1">
                <a:solidFill>
                  <a:srgbClr val="666666"/>
                </a:solidFill>
              </a:defRPr>
            </a:pPr>
            <a:r>
              <a:rPr sz="1650" b="1">
                <a:solidFill>
                  <a:srgbClr val="666666"/>
                </a:solidFill>
              </a:rPr>
              <a:t>끝점 순서만 다른 상태를 제거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AF617-D590-4B58-80F2-484FB466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24375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297E7-E857-4D14-BB36-287CAB24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00575"/>
            <a:ext cx="4133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visited.add(next)가 true일 때만 queue.offer</a:t>
            </a:r>
          </a:p>
        </p:txBody>
      </p:sp>
    </p:spTree>
    <p:extLst>
      <p:ext uri="{BB962C8B-B14F-4D97-AF65-F5344CB8AC3E}">
        <p14:creationId xmlns:p14="http://schemas.microsoft.com/office/powerpoint/2010/main" val="15483349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FD2F9-A6F2-4212-9098-69B10ABE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13112-72C9-4DD3-B770-A3B72CC8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81873-FE2E-47C2-B714-1B5CDE36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43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99999"/>
                </a:solidFill>
              </a:defRPr>
            </a:pPr>
            <a:r>
              <a:rPr sz="750" b="0">
                <a:solidFill>
                  <a:srgbClr val="999999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16CE5-A371-4134-8868-D51DC38C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상태 표현과 후보 생성을 분리하면 회전 로직을 점검하기 쉽다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9A608-8979-4AC8-9436-0C25A37F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State.of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B458B-90AC-4FE3-8766-6D75C8FE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954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945"/>
          </a:solidFill>
          <a:ln xmlns:a="http://schemas.openxmlformats.org/drawingml/2006/main" w="9525">
            <a:solidFill>
              <a:srgbClr val="FF39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B1262-9BC0-40D4-8B54-124564A3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763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6666"/>
                </a:solidFill>
              </a:defRPr>
            </a:pPr>
            <a:r>
              <a:rPr sz="1650" b="1">
                <a:solidFill>
                  <a:srgbClr val="666666"/>
                </a:solidFill>
              </a:rPr>
              <a:t>좌표 순서를 정리해 State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7574D-99B7-4E38-AAC9-7FE65A6F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isEmpty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AFCF3-EDB2-4775-8E4F-E1B8BA0B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945"/>
          </a:solidFill>
          <a:ln xmlns:a="http://schemas.openxmlformats.org/drawingml/2006/main" w="9525">
            <a:solidFill>
              <a:srgbClr val="FF39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8BCB5-40DF-4B94-9342-3D9F2929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288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6666"/>
                </a:solidFill>
              </a:defRPr>
            </a:pPr>
            <a:r>
              <a:rPr sz="1650" b="1">
                <a:solidFill>
                  <a:srgbClr val="666666"/>
                </a:solidFill>
              </a:rPr>
              <a:t>범위와 벽을 한 번에 검사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4D1F7-82D0-45AE-BC59-7DE56E25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getNextStates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18DCF-A782-4F8D-AE05-61E36B51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945"/>
          </a:solidFill>
          <a:ln xmlns:a="http://schemas.openxmlformats.org/drawingml/2006/main" w="9525">
            <a:solidFill>
              <a:srgbClr val="FF39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EC950-FF76-40B9-B4A5-FF96713B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813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6666"/>
                </a:solidFill>
              </a:defRPr>
            </a:pPr>
            <a:r>
              <a:rPr sz="1650" b="1">
                <a:solidFill>
                  <a:srgbClr val="666666"/>
                </a:solidFill>
              </a:rPr>
              <a:t>평행 이동과 회전 후보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4C7F4-935D-4079-892C-5B2E23EE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6466A9-E836-46A1-8552-DD364ECB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529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945"/>
          </a:solidFill>
          <a:ln xmlns:a="http://schemas.openxmlformats.org/drawingml/2006/main" w="9525">
            <a:solidFill>
              <a:srgbClr val="FF39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82E3F-1CE9-40A9-B740-6E052D5A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338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6666"/>
                </a:solidFill>
              </a:defRPr>
            </a:pPr>
            <a:r>
              <a:rPr sz="1650" b="1">
                <a:solidFill>
                  <a:srgbClr val="666666"/>
                </a:solidFill>
              </a:rPr>
              <a:t>BFS, 방문 처리, 목표 판정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6741F-02B6-444C-9618-2EA1F59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3945"/>
                </a:solidFill>
              </a:defRPr>
            </a:pPr>
            <a:r>
              <a:rPr sz="1500" b="1">
                <a:solidFill>
                  <a:srgbClr val="FF3945"/>
                </a:solidFill>
              </a:rPr>
              <a:t>회전 조건이 틀렸을 때 BFS 전체가 아니라 getNextStates만 따로 확인할 수 있다</a:t>
            </a:r>
          </a:p>
        </p:txBody>
      </p:sp>
    </p:spTree>
    <p:extLst>
      <p:ext uri="{BB962C8B-B14F-4D97-AF65-F5344CB8AC3E}">
        <p14:creationId xmlns:p14="http://schemas.microsoft.com/office/powerpoint/2010/main" val="14319547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305FFF-169B-4F1B-A57F-F62F846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12C62-C2DF-4FF4-8C9F-F38A11CA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AC937-13C3-4ED3-95B6-AEEECDBB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43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99999"/>
                </a:solidFill>
              </a:defRPr>
            </a:pPr>
            <a:r>
              <a:rPr sz="750" b="0">
                <a:solidFill>
                  <a:srgbClr val="999999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FACB6-B479-43BE-96AE-3D61DF92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상태 수는 O(N²), 각 상태에서 확인하는 후보 수는 상수다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B4CFB-C364-4526-9B41-896B122C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6666"/>
                </a:solidFill>
              </a:defRPr>
            </a:pPr>
            <a:r>
              <a:rPr sz="1575" b="1">
                <a:solidFill>
                  <a:srgbClr val="666666"/>
                </a:solidFill>
              </a:rPr>
              <a:t>시간복잡도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B492F-306A-4E5C-A076-05887257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3945"/>
                </a:solidFill>
              </a:defRPr>
            </a:pPr>
            <a:r>
              <a:rPr sz="3000" b="1">
                <a:solidFill>
                  <a:srgbClr val="FF3945"/>
                </a:solidFill>
              </a:rPr>
              <a:t>O(N²)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4CB8A-2081-4077-B435-2CB947F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6666"/>
                </a:solidFill>
              </a:defRPr>
            </a:pPr>
            <a:r>
              <a:rPr sz="1575" b="1">
                <a:solidFill>
                  <a:srgbClr val="666666"/>
                </a:solidFill>
              </a:rPr>
              <a:t>공간복잡도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178E2-3E2D-4814-B3E6-216E0BE8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3945"/>
                </a:solidFill>
              </a:defRPr>
            </a:pPr>
            <a:r>
              <a:rPr sz="3000" b="1">
                <a:solidFill>
                  <a:srgbClr val="FF3945"/>
                </a:solidFill>
              </a:rPr>
              <a:t>O(N²)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9D93A-2E0F-4793-B224-EFF599D7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287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F2819-713D-4652-AD97-C5898399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763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3945"/>
                </a:solidFill>
              </a:defRPr>
            </a:pPr>
            <a:r>
              <a:rPr sz="1725" b="1">
                <a:solidFill>
                  <a:srgbClr val="FF3945"/>
                </a:solidFill>
              </a:rPr>
              <a:t>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E9381-9D91-450F-B42D-B785497E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76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두 좌표를 하나의 상태로 저장했는가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10384-F355-4EA1-A949-C3613931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3945"/>
                </a:solidFill>
              </a:defRPr>
            </a:pPr>
            <a:r>
              <a:rPr sz="1725" b="1">
                <a:solidFill>
                  <a:srgbClr val="FF3945"/>
                </a:solidFill>
              </a:rPr>
              <a:t>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3F13D-9852-4162-A27D-CDBC3484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38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좌표 순서를 정리했는가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3F87E-806A-4D50-8BCE-94820D2B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3945"/>
                </a:solidFill>
              </a:defRPr>
            </a:pPr>
            <a:r>
              <a:rPr sz="1725" b="1">
                <a:solidFill>
                  <a:srgbClr val="FF3945"/>
                </a:solidFill>
              </a:rPr>
              <a:t>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88284-6AE9-4E26-8396-C7B6D752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00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이동할 두 칸을 모두 검사했는가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46762-E05A-4B4F-805B-DF468494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623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3945"/>
                </a:solidFill>
              </a:defRPr>
            </a:pPr>
            <a:r>
              <a:rPr sz="1725" b="1">
                <a:solidFill>
                  <a:srgbClr val="FF3945"/>
                </a:solidFill>
              </a:rPr>
              <a:t>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9ED502-42CC-4A28-9EF5-92244873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62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회전할 2×2 공간을 확인했는가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70776-217A-44B8-B367-0DB5C292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243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3945"/>
                </a:solidFill>
              </a:defRPr>
            </a:pPr>
            <a:r>
              <a:rPr sz="1725" b="1">
                <a:solidFill>
                  <a:srgbClr val="FF3945"/>
                </a:solidFill>
              </a:rPr>
              <a:t>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5EFEC7-9186-4512-B609-A96745B5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24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한 칸이 도착하면 종료하는가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A7F3C-0D1D-45AA-8CBB-24578587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197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3945"/>
                </a:solidFill>
              </a:defRPr>
            </a:pPr>
            <a:r>
              <a:rPr sz="1575" b="1">
                <a:solidFill>
                  <a:srgbClr val="FF3945"/>
                </a:solidFill>
              </a:rPr>
              <a:t>풀이 흐름: 상태 정의 → 후보 생성 → 중복 제거 → BFS</a:t>
            </a:r>
          </a:p>
        </p:txBody>
      </p:sp>
    </p:spTree>
    <p:extLst>
      <p:ext uri="{BB962C8B-B14F-4D97-AF65-F5344CB8AC3E}">
        <p14:creationId xmlns:p14="http://schemas.microsoft.com/office/powerpoint/2010/main" val="626340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2026-09-01T00:15:57.8480000Z</dcterms:created>
  <dcterms:modified xsi:type="dcterms:W3CDTF">2026-09-01T00:15:57.8480000Z</dcterms:modified>
</coreProperties>
</file>